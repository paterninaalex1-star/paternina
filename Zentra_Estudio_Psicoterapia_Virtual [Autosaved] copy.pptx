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94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ESTUDIO DE MERCADO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Psicoterapia Virtual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i="1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la Costa Caribe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4663440"/>
            <a:ext cx="1371600" cy="0"/>
          </a:xfrm>
          <a:prstGeom prst="line">
            <a:avLst/>
          </a:prstGeom>
          <a:noFill/>
          <a:ln w="254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Text 6"/>
          <p:cNvSpPr/>
          <p:nvPr/>
        </p:nvSpPr>
        <p:spPr>
          <a:xfrm>
            <a:off x="624840" y="4846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Hallazgos, precios, segmentos y sistema de contenido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definir la viabilidad del negocio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0" y="5029200"/>
            <a:ext cx="0" cy="822960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Text 8"/>
          <p:cNvSpPr/>
          <p:nvPr/>
        </p:nvSpPr>
        <p:spPr>
          <a:xfrm>
            <a:off x="9281160" y="4937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281160" y="5303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encuestas válidas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281160" y="5532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281160" y="5897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entrevistas en profundidad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2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systems. Drive growth.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ESTE DOCUMENTO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vas a encontrar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Resumen y diagnóstico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3063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esencial del estudio en una mirada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94944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Quién es el cliente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3063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Tres perfiles accionables del mercado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8016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hallazgos que importan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931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insights con implicación de negocio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4944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Barreras y virtualidad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3931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frena la compra y cómo resolverlo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Precio y arquitectura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800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$150.000 como ancla y estructura completa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4480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4944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Canales y adquisición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4800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Dónde confía la gente y cómo llegar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5349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28016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Sistema de contenido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5669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red, qué lenguaje, qué objetivo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5349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4944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Decisiones y conclusión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49440" y="5669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hacer en los próximos 90 días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Índice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01200" y="6537960"/>
            <a:ext cx="213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" name="Shape 3"/>
          <p:cNvSpPr/>
          <p:nvPr/>
        </p:nvSpPr>
        <p:spPr>
          <a:xfrm>
            <a:off x="1371600" y="246888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" name="Shape 4"/>
          <p:cNvSpPr/>
          <p:nvPr/>
        </p:nvSpPr>
        <p:spPr>
          <a:xfrm>
            <a:off x="1371600" y="356616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Shape 5"/>
          <p:cNvSpPr/>
          <p:nvPr/>
        </p:nvSpPr>
        <p:spPr>
          <a:xfrm>
            <a:off x="1371600" y="466344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Shape 7"/>
          <p:cNvSpPr/>
          <p:nvPr/>
        </p:nvSpPr>
        <p:spPr>
          <a:xfrm>
            <a:off x="2651760" y="246888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Shape 8"/>
          <p:cNvSpPr/>
          <p:nvPr/>
        </p:nvSpPr>
        <p:spPr>
          <a:xfrm>
            <a:off x="2651760" y="356616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Shape 9"/>
          <p:cNvSpPr/>
          <p:nvPr/>
        </p:nvSpPr>
        <p:spPr>
          <a:xfrm>
            <a:off x="2651760" y="466344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2" name="Shape 10"/>
          <p:cNvSpPr/>
          <p:nvPr/>
        </p:nvSpPr>
        <p:spPr>
          <a:xfrm>
            <a:off x="3931920" y="137160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Shape 11"/>
          <p:cNvSpPr/>
          <p:nvPr/>
        </p:nvSpPr>
        <p:spPr>
          <a:xfrm>
            <a:off x="3931920" y="246888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Shape 12"/>
          <p:cNvSpPr/>
          <p:nvPr/>
        </p:nvSpPr>
        <p:spPr>
          <a:xfrm>
            <a:off x="3931920" y="356616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Shape 13"/>
          <p:cNvSpPr/>
          <p:nvPr/>
        </p:nvSpPr>
        <p:spPr>
          <a:xfrm>
            <a:off x="3931920" y="466344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Shape 14"/>
          <p:cNvSpPr/>
          <p:nvPr/>
        </p:nvSpPr>
        <p:spPr>
          <a:xfrm>
            <a:off x="5212080" y="137160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Shape 15"/>
          <p:cNvSpPr/>
          <p:nvPr/>
        </p:nvSpPr>
        <p:spPr>
          <a:xfrm>
            <a:off x="5212080" y="246888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8" name="Shape 16"/>
          <p:cNvSpPr/>
          <p:nvPr/>
        </p:nvSpPr>
        <p:spPr>
          <a:xfrm>
            <a:off x="5212080" y="356616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Shape 17"/>
          <p:cNvSpPr/>
          <p:nvPr/>
        </p:nvSpPr>
        <p:spPr>
          <a:xfrm>
            <a:off x="5212080" y="466344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Shape 18"/>
          <p:cNvSpPr/>
          <p:nvPr/>
        </p:nvSpPr>
        <p:spPr>
          <a:xfrm>
            <a:off x="6492240" y="137160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Shape 19"/>
          <p:cNvSpPr/>
          <p:nvPr/>
        </p:nvSpPr>
        <p:spPr>
          <a:xfrm>
            <a:off x="6492240" y="246888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2" name="Shape 20"/>
          <p:cNvSpPr/>
          <p:nvPr/>
        </p:nvSpPr>
        <p:spPr>
          <a:xfrm>
            <a:off x="6492240" y="356616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3" name="Shape 21"/>
          <p:cNvSpPr/>
          <p:nvPr/>
        </p:nvSpPr>
        <p:spPr>
          <a:xfrm>
            <a:off x="6492240" y="466344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4" name="Shape 22"/>
          <p:cNvSpPr/>
          <p:nvPr/>
        </p:nvSpPr>
        <p:spPr>
          <a:xfrm>
            <a:off x="7772400" y="137160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5" name="Shape 23"/>
          <p:cNvSpPr/>
          <p:nvPr/>
        </p:nvSpPr>
        <p:spPr>
          <a:xfrm>
            <a:off x="7772400" y="246888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6" name="Shape 24"/>
          <p:cNvSpPr/>
          <p:nvPr/>
        </p:nvSpPr>
        <p:spPr>
          <a:xfrm>
            <a:off x="7772400" y="356616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7" name="Shape 25"/>
          <p:cNvSpPr/>
          <p:nvPr/>
        </p:nvSpPr>
        <p:spPr>
          <a:xfrm>
            <a:off x="7772400" y="466344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8" name="Shape 26"/>
          <p:cNvSpPr/>
          <p:nvPr/>
        </p:nvSpPr>
        <p:spPr>
          <a:xfrm>
            <a:off x="9052560" y="137160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9" name="Shape 27"/>
          <p:cNvSpPr/>
          <p:nvPr/>
        </p:nvSpPr>
        <p:spPr>
          <a:xfrm>
            <a:off x="9052560" y="246888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0" name="Shape 28"/>
          <p:cNvSpPr/>
          <p:nvPr/>
        </p:nvSpPr>
        <p:spPr>
          <a:xfrm>
            <a:off x="9052560" y="356616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1" name="Shape 29"/>
          <p:cNvSpPr/>
          <p:nvPr/>
        </p:nvSpPr>
        <p:spPr>
          <a:xfrm>
            <a:off x="9052560" y="466344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2" name="Shape 30"/>
          <p:cNvSpPr/>
          <p:nvPr/>
        </p:nvSpPr>
        <p:spPr>
          <a:xfrm>
            <a:off x="10332720" y="137160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3" name="Shape 31"/>
          <p:cNvSpPr/>
          <p:nvPr/>
        </p:nvSpPr>
        <p:spPr>
          <a:xfrm>
            <a:off x="10332720" y="246888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4" name="Shape 32"/>
          <p:cNvSpPr/>
          <p:nvPr/>
        </p:nvSpPr>
        <p:spPr>
          <a:xfrm>
            <a:off x="10332720" y="356616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5" name="Shape 33"/>
          <p:cNvSpPr/>
          <p:nvPr/>
        </p:nvSpPr>
        <p:spPr>
          <a:xfrm>
            <a:off x="10332720" y="466344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6" name="Text 34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32004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Diagnóstico</a:t>
            </a:r>
            <a:endParaRPr lang="en-US" sz="8400" dirty="0"/>
          </a:p>
        </p:txBody>
      </p:sp>
      <p:sp>
        <p:nvSpPr>
          <p:cNvPr id="38" name="Shape 36"/>
          <p:cNvSpPr/>
          <p:nvPr/>
        </p:nvSpPr>
        <p:spPr>
          <a:xfrm>
            <a:off x="457200" y="4663440"/>
            <a:ext cx="914400" cy="0"/>
          </a:xfrm>
          <a:prstGeom prst="line">
            <a:avLst/>
          </a:prstGeom>
          <a:noFill/>
          <a:ln w="381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esencial del estudio en una mirada.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mercado existe, quiere el servicio y está listo — con condiciones.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RESUMEN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diagnóstico sin rodeos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77295" cy="18288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09728" cy="182880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gente quiere terapia.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rechaza la modalidad virtual, no tiene un estigma fuerte con los psicólogos y reconoce que necesita ayuda. Lo que rechaza son terapeutas que no escuchan, procesos sin resultados visibles y precios desconectados del beneficio.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42%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5303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tiene intención alta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uso en 6 meses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42976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31%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291840" y="5303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acepta pagar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$120k–$180k por sesión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42976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B8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72%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126480" y="5303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prefiere videollamada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cámara activa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0" y="42976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33%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8961120" y="5303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quedó insatisfecho con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 terapia anterior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01 · Diagnóstico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0" y="6537960"/>
            <a:ext cx="213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RESUMEN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hay que saber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73152" cy="123444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Hay intención real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42% es probable o muy probable que use un servicio de psicoterapia virtual en los próximos 6 meses.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Shape 9"/>
          <p:cNvSpPr/>
          <p:nvPr/>
        </p:nvSpPr>
        <p:spPr>
          <a:xfrm>
            <a:off x="6172200" y="2057400"/>
            <a:ext cx="73152" cy="123444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2" name="Text 10"/>
          <p:cNvSpPr/>
          <p:nvPr/>
        </p:nvSpPr>
        <p:spPr>
          <a:xfrm>
            <a:off x="644652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$150.000 es viable con arquitectura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560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31% acepta pagar ese rango. No es masivo, pero es el segmento con mayor poder adquisitivo.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73152" cy="123444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Text 14"/>
          <p:cNvSpPr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virtualidad no es barrera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72% prefiere videollamada con cámara activa. Solo 11% la rechaza de plano.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342900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Shape 17"/>
          <p:cNvSpPr/>
          <p:nvPr/>
        </p:nvSpPr>
        <p:spPr>
          <a:xfrm>
            <a:off x="6172200" y="3429000"/>
            <a:ext cx="73152" cy="123444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Text 18"/>
          <p:cNvSpPr/>
          <p:nvPr/>
        </p:nvSpPr>
        <p:spPr>
          <a:xfrm>
            <a:off x="644652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Brecha de calidad evidente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39319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33% de quienes ya fueron a terapia la describen como neutra, negativa o muy negativa. Ahí está la oportunidad.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73152" cy="123444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4" name="Text 22"/>
          <p:cNvSpPr/>
          <p:nvPr/>
        </p:nvSpPr>
        <p:spPr>
          <a:xfrm>
            <a:off x="73152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estigma está en retirada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53035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Solo 12% asocia terapia con debilidad. La pandemia aceleró el cambio cultural.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480060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7" name="Shape 25"/>
          <p:cNvSpPr/>
          <p:nvPr/>
        </p:nvSpPr>
        <p:spPr>
          <a:xfrm>
            <a:off x="6172200" y="4800600"/>
            <a:ext cx="73152" cy="123444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8" name="Text 26"/>
          <p:cNvSpPr/>
          <p:nvPr/>
        </p:nvSpPr>
        <p:spPr>
          <a:xfrm>
            <a:off x="644652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confianza se construye antes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53035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79% confía en recomendaciones; 41% en el contenido del profesional en Instagram. La venta empieza antes del primer mensaje.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01 · Diagnóstico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01200" y="6537960"/>
            <a:ext cx="213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" name="Shape 3"/>
          <p:cNvSpPr/>
          <p:nvPr/>
        </p:nvSpPr>
        <p:spPr>
          <a:xfrm>
            <a:off x="1371600" y="246888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" name="Shape 4"/>
          <p:cNvSpPr/>
          <p:nvPr/>
        </p:nvSpPr>
        <p:spPr>
          <a:xfrm>
            <a:off x="1371600" y="35661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Shape 5"/>
          <p:cNvSpPr/>
          <p:nvPr/>
        </p:nvSpPr>
        <p:spPr>
          <a:xfrm>
            <a:off x="1371600" y="466344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Shape 7"/>
          <p:cNvSpPr/>
          <p:nvPr/>
        </p:nvSpPr>
        <p:spPr>
          <a:xfrm>
            <a:off x="2651760" y="246888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Shape 8"/>
          <p:cNvSpPr/>
          <p:nvPr/>
        </p:nvSpPr>
        <p:spPr>
          <a:xfrm>
            <a:off x="2651760" y="35661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Shape 9"/>
          <p:cNvSpPr/>
          <p:nvPr/>
        </p:nvSpPr>
        <p:spPr>
          <a:xfrm>
            <a:off x="2651760" y="466344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2" name="Shape 10"/>
          <p:cNvSpPr/>
          <p:nvPr/>
        </p:nvSpPr>
        <p:spPr>
          <a:xfrm>
            <a:off x="3931920" y="137160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Shape 11"/>
          <p:cNvSpPr/>
          <p:nvPr/>
        </p:nvSpPr>
        <p:spPr>
          <a:xfrm>
            <a:off x="3931920" y="246888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Shape 12"/>
          <p:cNvSpPr/>
          <p:nvPr/>
        </p:nvSpPr>
        <p:spPr>
          <a:xfrm>
            <a:off x="3931920" y="35661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Shape 13"/>
          <p:cNvSpPr/>
          <p:nvPr/>
        </p:nvSpPr>
        <p:spPr>
          <a:xfrm>
            <a:off x="3931920" y="466344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Shape 14"/>
          <p:cNvSpPr/>
          <p:nvPr/>
        </p:nvSpPr>
        <p:spPr>
          <a:xfrm>
            <a:off x="5212080" y="137160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Shape 15"/>
          <p:cNvSpPr/>
          <p:nvPr/>
        </p:nvSpPr>
        <p:spPr>
          <a:xfrm>
            <a:off x="5212080" y="246888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8" name="Shape 16"/>
          <p:cNvSpPr/>
          <p:nvPr/>
        </p:nvSpPr>
        <p:spPr>
          <a:xfrm>
            <a:off x="5212080" y="35661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Shape 17"/>
          <p:cNvSpPr/>
          <p:nvPr/>
        </p:nvSpPr>
        <p:spPr>
          <a:xfrm>
            <a:off x="5212080" y="466344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Shape 18"/>
          <p:cNvSpPr/>
          <p:nvPr/>
        </p:nvSpPr>
        <p:spPr>
          <a:xfrm>
            <a:off x="6492240" y="137160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Shape 19"/>
          <p:cNvSpPr/>
          <p:nvPr/>
        </p:nvSpPr>
        <p:spPr>
          <a:xfrm>
            <a:off x="6492240" y="246888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2" name="Shape 20"/>
          <p:cNvSpPr/>
          <p:nvPr/>
        </p:nvSpPr>
        <p:spPr>
          <a:xfrm>
            <a:off x="6492240" y="35661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3" name="Shape 21"/>
          <p:cNvSpPr/>
          <p:nvPr/>
        </p:nvSpPr>
        <p:spPr>
          <a:xfrm>
            <a:off x="6492240" y="466344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4" name="Shape 22"/>
          <p:cNvSpPr/>
          <p:nvPr/>
        </p:nvSpPr>
        <p:spPr>
          <a:xfrm>
            <a:off x="7772400" y="137160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5" name="Shape 23"/>
          <p:cNvSpPr/>
          <p:nvPr/>
        </p:nvSpPr>
        <p:spPr>
          <a:xfrm>
            <a:off x="7772400" y="246888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6" name="Shape 24"/>
          <p:cNvSpPr/>
          <p:nvPr/>
        </p:nvSpPr>
        <p:spPr>
          <a:xfrm>
            <a:off x="7772400" y="35661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7" name="Shape 25"/>
          <p:cNvSpPr/>
          <p:nvPr/>
        </p:nvSpPr>
        <p:spPr>
          <a:xfrm>
            <a:off x="7772400" y="466344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8" name="Shape 26"/>
          <p:cNvSpPr/>
          <p:nvPr/>
        </p:nvSpPr>
        <p:spPr>
          <a:xfrm>
            <a:off x="9052560" y="137160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9" name="Shape 27"/>
          <p:cNvSpPr/>
          <p:nvPr/>
        </p:nvSpPr>
        <p:spPr>
          <a:xfrm>
            <a:off x="9052560" y="246888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0" name="Shape 28"/>
          <p:cNvSpPr/>
          <p:nvPr/>
        </p:nvSpPr>
        <p:spPr>
          <a:xfrm>
            <a:off x="9052560" y="35661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1" name="Shape 29"/>
          <p:cNvSpPr/>
          <p:nvPr/>
        </p:nvSpPr>
        <p:spPr>
          <a:xfrm>
            <a:off x="9052560" y="466344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2" name="Shape 30"/>
          <p:cNvSpPr/>
          <p:nvPr/>
        </p:nvSpPr>
        <p:spPr>
          <a:xfrm>
            <a:off x="10332720" y="137160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3" name="Shape 31"/>
          <p:cNvSpPr/>
          <p:nvPr/>
        </p:nvSpPr>
        <p:spPr>
          <a:xfrm>
            <a:off x="10332720" y="246888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4" name="Shape 32"/>
          <p:cNvSpPr/>
          <p:nvPr/>
        </p:nvSpPr>
        <p:spPr>
          <a:xfrm>
            <a:off x="10332720" y="35661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5" name="Shape 33"/>
          <p:cNvSpPr/>
          <p:nvPr/>
        </p:nvSpPr>
        <p:spPr>
          <a:xfrm>
            <a:off x="10332720" y="466344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6" name="Text 34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32004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cliente</a:t>
            </a:r>
            <a:endParaRPr lang="en-US" sz="8400" dirty="0"/>
          </a:p>
        </p:txBody>
      </p:sp>
      <p:sp>
        <p:nvSpPr>
          <p:cNvPr id="38" name="Shape 36"/>
          <p:cNvSpPr/>
          <p:nvPr/>
        </p:nvSpPr>
        <p:spPr>
          <a:xfrm>
            <a:off x="457200" y="4663440"/>
            <a:ext cx="914400" cy="0"/>
          </a:xfrm>
          <a:prstGeom prst="line">
            <a:avLst/>
          </a:prstGeom>
          <a:noFill/>
          <a:ln w="381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es una sola persona.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Son tres perfiles distintos y cada uno requiere un enfoque diferente.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MUESTRA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Quién contestó la encuesta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1277295" cy="4572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DIMENSIÓN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MAYORÍA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PORCENTAJE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86968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SEGUNDO GRUPO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11277295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834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 a 24 años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0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53%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69680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a 34 años (17%)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11277295" cy="685800"/>
          </a:xfrm>
          <a:prstGeom prst="rect">
            <a:avLst/>
          </a:prstGeom>
          <a:solidFill>
            <a:srgbClr val="F0F0F6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Género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3520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Masculino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54%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69680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Femenino (44%)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11277295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Ciudad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4206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Barranquilla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73%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869680" y="4206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Cartagena (11%)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800600"/>
            <a:ext cx="11277295" cy="685800"/>
          </a:xfrm>
          <a:prstGeom prst="rect">
            <a:avLst/>
          </a:prstGeom>
          <a:solidFill>
            <a:srgbClr val="F0F0F6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7" name="Text 25"/>
          <p:cNvSpPr/>
          <p:nvPr/>
        </p:nvSpPr>
        <p:spPr>
          <a:xfrm>
            <a:off x="640080" y="4892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Ocupación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4892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Estudiante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4892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41%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869680" y="4892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Empleado dependiente (27%)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486400"/>
            <a:ext cx="11277295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2" name="Text 30"/>
          <p:cNvSpPr/>
          <p:nvPr/>
        </p:nvSpPr>
        <p:spPr>
          <a:xfrm>
            <a:off x="640080" y="5577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Ingresos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00400" y="5577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Menos de $1M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40880" y="5577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869680" y="5577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$1M–$2M (22%); $2M–$4M (20%)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Base: 100 respuestas válidas · 7 entrevistas en profundidad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02 · El cliente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601200" y="6537960"/>
            <a:ext cx="213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tres perfiles de cliente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657600" cy="402336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548640" cy="32004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25-34 AÑOS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Adulto joven que se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está conociendo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731520" cy="0"/>
          </a:xfrm>
          <a:prstGeom prst="line">
            <a:avLst/>
          </a:prstGeom>
          <a:noFill/>
          <a:ln w="254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Trabaja o emprende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Ingresos $1M–$4M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Activo en Instagram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Quiere entender qué siente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5623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Segmento principal que justifica el precio base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210312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Shape 13"/>
          <p:cNvSpPr/>
          <p:nvPr/>
        </p:nvSpPr>
        <p:spPr>
          <a:xfrm>
            <a:off x="4617720" y="2377440"/>
            <a:ext cx="548640" cy="3200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Text 14"/>
          <p:cNvSpPr/>
          <p:nvPr/>
        </p:nvSpPr>
        <p:spPr>
          <a:xfrm>
            <a:off x="4617720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30-45 AÑOS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2880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Adulto decepcionado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experiencias previas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4617720" y="3977640"/>
            <a:ext cx="73152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Text 18"/>
          <p:cNvSpPr/>
          <p:nvPr/>
        </p:nvSpPr>
        <p:spPr>
          <a:xfrm>
            <a:off x="4617720" y="41148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Ya probó terapia y no volvió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se sintió escuchado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33% de decepción en el mercado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Busca que esta vez sí funcione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5623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gana con una promesa explícita de diferencia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0" y="210312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3" name="Shape 21"/>
          <p:cNvSpPr/>
          <p:nvPr/>
        </p:nvSpPr>
        <p:spPr>
          <a:xfrm>
            <a:off x="8503920" y="2377440"/>
            <a:ext cx="54864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4" name="Text 22"/>
          <p:cNvSpPr/>
          <p:nvPr/>
        </p:nvSpPr>
        <p:spPr>
          <a:xfrm>
            <a:off x="8503920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B8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15-17 AÑOS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2880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Adolescente con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gatekeeper parental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8503920" y="3977640"/>
            <a:ext cx="731520" cy="0"/>
          </a:xfrm>
          <a:prstGeom prst="line">
            <a:avLst/>
          </a:prstGeom>
          <a:noFill/>
          <a:ln w="254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8" name="Text 26"/>
          <p:cNvSpPr/>
          <p:nvPr/>
        </p:nvSpPr>
        <p:spPr>
          <a:xfrm>
            <a:off x="8503920" y="41148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Depende de permiso parental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Quiere discreción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Virtualidad juega a favor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Hay que hablarle también a padres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0" y="5623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FB8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Requiere estrategia paralela dirigida a padres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02 · El cliente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01200" y="6537960"/>
            <a:ext cx="213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" name="Shape 3"/>
          <p:cNvSpPr/>
          <p:nvPr/>
        </p:nvSpPr>
        <p:spPr>
          <a:xfrm>
            <a:off x="1371600" y="246888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" name="Shape 4"/>
          <p:cNvSpPr/>
          <p:nvPr/>
        </p:nvSpPr>
        <p:spPr>
          <a:xfrm>
            <a:off x="1371600" y="356616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Shape 5"/>
          <p:cNvSpPr/>
          <p:nvPr/>
        </p:nvSpPr>
        <p:spPr>
          <a:xfrm>
            <a:off x="1371600" y="466344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Shape 7"/>
          <p:cNvSpPr/>
          <p:nvPr/>
        </p:nvSpPr>
        <p:spPr>
          <a:xfrm>
            <a:off x="2651760" y="246888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Shape 8"/>
          <p:cNvSpPr/>
          <p:nvPr/>
        </p:nvSpPr>
        <p:spPr>
          <a:xfrm>
            <a:off x="2651760" y="356616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Shape 9"/>
          <p:cNvSpPr/>
          <p:nvPr/>
        </p:nvSpPr>
        <p:spPr>
          <a:xfrm>
            <a:off x="2651760" y="466344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2" name="Shape 10"/>
          <p:cNvSpPr/>
          <p:nvPr/>
        </p:nvSpPr>
        <p:spPr>
          <a:xfrm>
            <a:off x="3931920" y="137160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Shape 11"/>
          <p:cNvSpPr/>
          <p:nvPr/>
        </p:nvSpPr>
        <p:spPr>
          <a:xfrm>
            <a:off x="3931920" y="246888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Shape 12"/>
          <p:cNvSpPr/>
          <p:nvPr/>
        </p:nvSpPr>
        <p:spPr>
          <a:xfrm>
            <a:off x="3931920" y="356616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Shape 13"/>
          <p:cNvSpPr/>
          <p:nvPr/>
        </p:nvSpPr>
        <p:spPr>
          <a:xfrm>
            <a:off x="3931920" y="466344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Shape 14"/>
          <p:cNvSpPr/>
          <p:nvPr/>
        </p:nvSpPr>
        <p:spPr>
          <a:xfrm>
            <a:off x="5212080" y="137160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Shape 15"/>
          <p:cNvSpPr/>
          <p:nvPr/>
        </p:nvSpPr>
        <p:spPr>
          <a:xfrm>
            <a:off x="5212080" y="246888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8" name="Shape 16"/>
          <p:cNvSpPr/>
          <p:nvPr/>
        </p:nvSpPr>
        <p:spPr>
          <a:xfrm>
            <a:off x="5212080" y="356616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Shape 17"/>
          <p:cNvSpPr/>
          <p:nvPr/>
        </p:nvSpPr>
        <p:spPr>
          <a:xfrm>
            <a:off x="5212080" y="466344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Shape 18"/>
          <p:cNvSpPr/>
          <p:nvPr/>
        </p:nvSpPr>
        <p:spPr>
          <a:xfrm>
            <a:off x="6492240" y="137160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Shape 19"/>
          <p:cNvSpPr/>
          <p:nvPr/>
        </p:nvSpPr>
        <p:spPr>
          <a:xfrm>
            <a:off x="6492240" y="246888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2" name="Shape 20"/>
          <p:cNvSpPr/>
          <p:nvPr/>
        </p:nvSpPr>
        <p:spPr>
          <a:xfrm>
            <a:off x="6492240" y="356616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3" name="Shape 21"/>
          <p:cNvSpPr/>
          <p:nvPr/>
        </p:nvSpPr>
        <p:spPr>
          <a:xfrm>
            <a:off x="6492240" y="466344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4" name="Shape 22"/>
          <p:cNvSpPr/>
          <p:nvPr/>
        </p:nvSpPr>
        <p:spPr>
          <a:xfrm>
            <a:off x="7772400" y="137160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5" name="Shape 23"/>
          <p:cNvSpPr/>
          <p:nvPr/>
        </p:nvSpPr>
        <p:spPr>
          <a:xfrm>
            <a:off x="7772400" y="246888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6" name="Shape 24"/>
          <p:cNvSpPr/>
          <p:nvPr/>
        </p:nvSpPr>
        <p:spPr>
          <a:xfrm>
            <a:off x="7772400" y="356616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7" name="Shape 25"/>
          <p:cNvSpPr/>
          <p:nvPr/>
        </p:nvSpPr>
        <p:spPr>
          <a:xfrm>
            <a:off x="7772400" y="466344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8" name="Shape 26"/>
          <p:cNvSpPr/>
          <p:nvPr/>
        </p:nvSpPr>
        <p:spPr>
          <a:xfrm>
            <a:off x="9052560" y="137160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9" name="Shape 27"/>
          <p:cNvSpPr/>
          <p:nvPr/>
        </p:nvSpPr>
        <p:spPr>
          <a:xfrm>
            <a:off x="9052560" y="246888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0" name="Shape 28"/>
          <p:cNvSpPr/>
          <p:nvPr/>
        </p:nvSpPr>
        <p:spPr>
          <a:xfrm>
            <a:off x="9052560" y="356616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1" name="Shape 29"/>
          <p:cNvSpPr/>
          <p:nvPr/>
        </p:nvSpPr>
        <p:spPr>
          <a:xfrm>
            <a:off x="9052560" y="466344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2" name="Shape 30"/>
          <p:cNvSpPr/>
          <p:nvPr/>
        </p:nvSpPr>
        <p:spPr>
          <a:xfrm>
            <a:off x="10332720" y="137160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3" name="Shape 31"/>
          <p:cNvSpPr/>
          <p:nvPr/>
        </p:nvSpPr>
        <p:spPr>
          <a:xfrm>
            <a:off x="10332720" y="246888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4" name="Shape 32"/>
          <p:cNvSpPr/>
          <p:nvPr/>
        </p:nvSpPr>
        <p:spPr>
          <a:xfrm>
            <a:off x="10332720" y="356616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5" name="Shape 33"/>
          <p:cNvSpPr/>
          <p:nvPr/>
        </p:nvSpPr>
        <p:spPr>
          <a:xfrm>
            <a:off x="10332720" y="4663440"/>
            <a:ext cx="36576" cy="36576"/>
          </a:xfrm>
          <a:prstGeom prst="ellips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6" name="Text 34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32004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Hallazgos</a:t>
            </a:r>
            <a:endParaRPr lang="en-US" sz="8400" dirty="0"/>
          </a:p>
        </p:txBody>
      </p:sp>
      <p:sp>
        <p:nvSpPr>
          <p:cNvPr id="38" name="Shape 36"/>
          <p:cNvSpPr/>
          <p:nvPr/>
        </p:nvSpPr>
        <p:spPr>
          <a:xfrm>
            <a:off x="457200" y="4663440"/>
            <a:ext cx="914400" cy="0"/>
          </a:xfrm>
          <a:prstGeom prst="line">
            <a:avLst/>
          </a:prstGeom>
          <a:noFill/>
          <a:ln w="381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6 insights con mayor implicación de negocio.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son datos sueltos, son decisiones.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HALLAZGOS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gente no busca terapia: busca que la escuchen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77295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09728" cy="182880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286000" y="23317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gente no busca terapia; busca que la escuchen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28346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dicen los datos · 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60% valora la escucha activa como una de las 3 características más importantes de un psicólogo. En entrevistas, varias personas describen sus experiencias previas como “ellos hablan y uno no dice casi nada”.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33375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hacer con eso · 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mensaje principal no debe ser “mejora tu salud mental”. Debe ser “aquí por fin te escuchan”. Es lo que el mercado pide y la competencia no entrega.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109728" cy="18288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Text 12"/>
          <p:cNvSpPr/>
          <p:nvPr/>
        </p:nvSpPr>
        <p:spPr>
          <a:xfrm>
            <a:off x="777240" y="42976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2286000" y="43434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barrera ya no es el tabú: es el desconocimiento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86000" y="48463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dicen los datos · 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Solo 12% todavía cree que ir al psicólogo es señal de debilidad. Pero el 47% no sabe a dónde acudir ni cómo encontrar un profesional confiable.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53492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hacer con eso · 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gastar energía combatiendo el estigma. Hay que invertir en hacer visible el servicio: profesional, credenciales, forma de trabajar, testimonios reales.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03 · Hallazgos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0" y="6537960"/>
            <a:ext cx="213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HALLAZGOS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confianza y el formato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77295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09728" cy="18288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B8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286000" y="23317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confianza se gana antes del primer mensaje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28346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B8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dicen los datos · 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41% confía en el contenido que el profesional publica en Instagram; 31% en TikTok. Los clientes entrevistados son explícitos: si no hay videos, no confían.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33375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B8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hacer con eso · 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venta no empieza cuando la persona escribe. Empieza semanas antes, cuando ve a la profesional en un reel. Publicar contenido no es opcional, es modelo de negocio.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109728" cy="182880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Text 12"/>
          <p:cNvSpPr/>
          <p:nvPr/>
        </p:nvSpPr>
        <p:spPr>
          <a:xfrm>
            <a:off x="777240" y="42976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2286000" y="43434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formato virtual no es el debate; la calidad sí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86000" y="48463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dicen los datos · 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72% prefiere videollamada con cámara activa. Solo 11% rechaza el formato virtual. La afirmación “lo importante es el profesional, no el formato” obtiene 3,91/5.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53492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hacer con eso · 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hay que convencer de la virtualidad: hay que demostrar excelencia profesional. Presencia visible, herramientas concretas, seguimiento entre sesiones.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03 · Hallazgos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0" y="6537960"/>
            <a:ext cx="213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HALLAZGOS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Competencia invisible y precio real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77295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09728" cy="18288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286000" y="23317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principal competidor no es otro psicólogo: son los amigos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28346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dicen los datos · 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Ante una crisis, 49% acude primero a un amigo o familiar. Solo 20% a un psicólogo privado. 79% confía en recomendaciones por encima de cualquier canal.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33375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hacer con eso · 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competidor invisible es el amigo que escucha gratis. Pero también es la mayor palanca: </a:t>
            </a:r>
            <a:r>
              <a:rPr lang="en-US" sz="1100" dirty="0" err="1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diseñar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un </a:t>
            </a:r>
            <a:r>
              <a:rPr lang="en-US" sz="1100" dirty="0" err="1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programa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</a:t>
            </a:r>
            <a:r>
              <a:rPr lang="en-US" sz="1100" dirty="0" err="1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referidos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 </a:t>
            </a:r>
            <a:r>
              <a:rPr lang="en-US" sz="1100" dirty="0" err="1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incentivo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00" dirty="0" err="1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desde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00" dirty="0" err="1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primer </a:t>
            </a:r>
            <a:r>
              <a:rPr lang="en-US" sz="1100" dirty="0" err="1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109728" cy="18288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Text 12"/>
          <p:cNvSpPr/>
          <p:nvPr/>
        </p:nvSpPr>
        <p:spPr>
          <a:xfrm>
            <a:off x="777240" y="42976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B8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2286000" y="43434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$150.000 es viable, pero no es el precio masivo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86000" y="48463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B8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dicen los datos · 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31% acepta pagar $120k–$180k por sesión. 83% tiene capacidad de invertir al menos $100k mensuales. Pero solo 9% aceptaría $180k o más.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53492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B8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hacer con eso · </a:t>
            </a: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$150k el servicio se dirige a un segmento específico con poder adquisitivo. No bajar el precio: construir valor para justificarlo (herramientas, seguimiento, resultados).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03 · Hallazgos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0" y="6537960"/>
            <a:ext cx="213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BARRERAS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frena a la gente y cómo se resuelve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11277295" cy="41148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BARRERA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7764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% MENCIONA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4924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 QUÉ APARECE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4108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CÓMO SE RESUELVE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127729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2" name="Text 10"/>
          <p:cNvSpPr/>
          <p:nvPr/>
        </p:nvSpPr>
        <p:spPr>
          <a:xfrm>
            <a:off x="594360" y="2633472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Costo de las sesiones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77640" y="2633472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47%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2633472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terapia se percibe como un lujo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41080" y="2633472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Primera consulta accesible + paquetes con descuento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11277295" cy="566928"/>
          </a:xfrm>
          <a:prstGeom prst="rect">
            <a:avLst/>
          </a:prstGeom>
          <a:solidFill>
            <a:srgbClr val="F0F0F6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Text 15"/>
          <p:cNvSpPr/>
          <p:nvPr/>
        </p:nvSpPr>
        <p:spPr>
          <a:xfrm>
            <a:off x="594360" y="3200400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saber a dónde acudir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77640" y="3200400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47%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3200400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Desconfianza: nadie certifica al profesional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41080" y="3200400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Perfil visible con credenciales y testimonios reales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94176"/>
            <a:ext cx="1127729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2" name="Text 20"/>
          <p:cNvSpPr/>
          <p:nvPr/>
        </p:nvSpPr>
        <p:spPr>
          <a:xfrm>
            <a:off x="594360" y="3767328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Falta de tiempo u horarios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77640" y="3767328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3767328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Trabajadores/estudiantes sin disponibilidad diurna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41080" y="3767328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Horarios nocturnos y fin de semana; virtualidad suma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261104"/>
            <a:ext cx="11277295" cy="566928"/>
          </a:xfrm>
          <a:prstGeom prst="rect">
            <a:avLst/>
          </a:prstGeom>
          <a:solidFill>
            <a:srgbClr val="F0F0F6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7" name="Text 25"/>
          <p:cNvSpPr/>
          <p:nvPr/>
        </p:nvSpPr>
        <p:spPr>
          <a:xfrm>
            <a:off x="594360" y="4334256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Miedo al juicio del entorno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77640" y="4334256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4334256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Especialmente en hogares tradicionales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41080" y="4334256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Virtualidad da discreción; tono de cuidado personal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828032"/>
            <a:ext cx="1127729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2" name="Text 30"/>
          <p:cNvSpPr/>
          <p:nvPr/>
        </p:nvSpPr>
        <p:spPr>
          <a:xfrm>
            <a:off x="594360" y="4901184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Creencias religiosas o culturales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77640" y="4901184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4901184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Padres o familia que no aprueban ir al psicólogo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41080" y="4901184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Comunicación que normaliza sin confrontar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394960"/>
            <a:ext cx="11277295" cy="566928"/>
          </a:xfrm>
          <a:prstGeom prst="rect">
            <a:avLst/>
          </a:prstGeom>
          <a:solidFill>
            <a:srgbClr val="F0F0F6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7" name="Text 35"/>
          <p:cNvSpPr/>
          <p:nvPr/>
        </p:nvSpPr>
        <p:spPr>
          <a:xfrm>
            <a:off x="594360" y="5468112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Malas experiencias previas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77640" y="5468112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12%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49240" y="5468112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“Todos los psicólogos hacen lo mismo”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41080" y="5468112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Primera sesión de orientación + posibilidad de cambio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2" name="Text 40"/>
          <p:cNvSpPr/>
          <p:nvPr/>
        </p:nvSpPr>
        <p:spPr>
          <a:xfrm>
            <a:off x="594360" y="6035040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Depender de los padres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77640" y="6035040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11%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49240" y="6035040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Adolescentes bloqueados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641080" y="6035040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Comunicación también dirigida a padres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7" name="Text 4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04 · Barreras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601200" y="6537960"/>
            <a:ext cx="213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VIRTUALIDAD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la gente realmente piensa de la terapia virtual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Nivel de acuerdo (1–5)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importante es el profesional, no el formato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70632"/>
            <a:ext cx="4937760" cy="201168"/>
          </a:xfrm>
          <a:prstGeom prst="rect">
            <a:avLst/>
          </a:prstGeom>
          <a:solidFill>
            <a:srgbClr val="E1E1EC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Shape 7"/>
          <p:cNvSpPr/>
          <p:nvPr/>
        </p:nvSpPr>
        <p:spPr>
          <a:xfrm>
            <a:off x="457200" y="2770632"/>
            <a:ext cx="3861328" cy="20116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Text 8"/>
          <p:cNvSpPr/>
          <p:nvPr/>
        </p:nvSpPr>
        <p:spPr>
          <a:xfrm>
            <a:off x="5486400" y="27249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272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virtual da comodidad y flexibilidad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4937760" cy="201168"/>
          </a:xfrm>
          <a:prstGeom prst="rect">
            <a:avLst/>
          </a:prstGeom>
          <a:solidFill>
            <a:srgbClr val="E1E1EC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3693444" cy="20116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Text 12"/>
          <p:cNvSpPr/>
          <p:nvPr/>
        </p:nvSpPr>
        <p:spPr>
          <a:xfrm>
            <a:off x="5486400" y="33832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3,74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78561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sesión virtual es igual de efectiva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87368"/>
            <a:ext cx="4937760" cy="201168"/>
          </a:xfrm>
          <a:prstGeom prst="rect">
            <a:avLst/>
          </a:prstGeom>
          <a:solidFill>
            <a:srgbClr val="E1E1EC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Shape 15"/>
          <p:cNvSpPr/>
          <p:nvPr/>
        </p:nvSpPr>
        <p:spPr>
          <a:xfrm>
            <a:off x="457200" y="4087368"/>
            <a:ext cx="3416930" cy="2011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8" name="Text 16"/>
          <p:cNvSpPr/>
          <p:nvPr/>
        </p:nvSpPr>
        <p:spPr>
          <a:xfrm>
            <a:off x="5486400" y="40416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3,46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4439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virtual se pierde conexión emocional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745736"/>
            <a:ext cx="4937760" cy="201168"/>
          </a:xfrm>
          <a:prstGeom prst="rect">
            <a:avLst/>
          </a:prstGeom>
          <a:solidFill>
            <a:srgbClr val="E1E1EC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Shape 19"/>
          <p:cNvSpPr/>
          <p:nvPr/>
        </p:nvSpPr>
        <p:spPr>
          <a:xfrm>
            <a:off x="457200" y="4745736"/>
            <a:ext cx="3061411" cy="201168"/>
          </a:xfrm>
          <a:prstGeom prst="rect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2" name="Text 20"/>
          <p:cNvSpPr/>
          <p:nvPr/>
        </p:nvSpPr>
        <p:spPr>
          <a:xfrm>
            <a:off x="5486400" y="47000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51023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 preocupa la privacidad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404104"/>
            <a:ext cx="4937760" cy="201168"/>
          </a:xfrm>
          <a:prstGeom prst="rect">
            <a:avLst/>
          </a:prstGeom>
          <a:solidFill>
            <a:srgbClr val="E1E1EC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5" name="Shape 23"/>
          <p:cNvSpPr/>
          <p:nvPr/>
        </p:nvSpPr>
        <p:spPr>
          <a:xfrm>
            <a:off x="457200" y="5404104"/>
            <a:ext cx="2824399" cy="201168"/>
          </a:xfrm>
          <a:prstGeom prst="rect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6" name="Text 24"/>
          <p:cNvSpPr/>
          <p:nvPr/>
        </p:nvSpPr>
        <p:spPr>
          <a:xfrm>
            <a:off x="5486400" y="535838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2,86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0" y="2103120"/>
            <a:ext cx="5029200" cy="41148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8" name="Text 26"/>
          <p:cNvSpPr/>
          <p:nvPr/>
        </p:nvSpPr>
        <p:spPr>
          <a:xfrm>
            <a:off x="694944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PREFERENCIAS CLAVE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72%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6949440" y="3383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prefiere videollamada con cámara activa en ambos extremos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59%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6949440" y="4480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motiva por la flexibilidad de horarios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4892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B8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11%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6949440" y="5577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rechaza por completo el formato virtual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04 · Barreras y virtualidad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601200" y="6537960"/>
            <a:ext cx="213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" name="Shape 3"/>
          <p:cNvSpPr/>
          <p:nvPr/>
        </p:nvSpPr>
        <p:spPr>
          <a:xfrm>
            <a:off x="1371600" y="246888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" name="Shape 4"/>
          <p:cNvSpPr/>
          <p:nvPr/>
        </p:nvSpPr>
        <p:spPr>
          <a:xfrm>
            <a:off x="1371600" y="356616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Shape 5"/>
          <p:cNvSpPr/>
          <p:nvPr/>
        </p:nvSpPr>
        <p:spPr>
          <a:xfrm>
            <a:off x="1371600" y="466344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Shape 7"/>
          <p:cNvSpPr/>
          <p:nvPr/>
        </p:nvSpPr>
        <p:spPr>
          <a:xfrm>
            <a:off x="2651760" y="246888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Shape 8"/>
          <p:cNvSpPr/>
          <p:nvPr/>
        </p:nvSpPr>
        <p:spPr>
          <a:xfrm>
            <a:off x="2651760" y="356616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Shape 9"/>
          <p:cNvSpPr/>
          <p:nvPr/>
        </p:nvSpPr>
        <p:spPr>
          <a:xfrm>
            <a:off x="2651760" y="466344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2" name="Shape 10"/>
          <p:cNvSpPr/>
          <p:nvPr/>
        </p:nvSpPr>
        <p:spPr>
          <a:xfrm>
            <a:off x="3931920" y="137160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Shape 11"/>
          <p:cNvSpPr/>
          <p:nvPr/>
        </p:nvSpPr>
        <p:spPr>
          <a:xfrm>
            <a:off x="3931920" y="246888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Shape 12"/>
          <p:cNvSpPr/>
          <p:nvPr/>
        </p:nvSpPr>
        <p:spPr>
          <a:xfrm>
            <a:off x="3931920" y="356616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Shape 13"/>
          <p:cNvSpPr/>
          <p:nvPr/>
        </p:nvSpPr>
        <p:spPr>
          <a:xfrm>
            <a:off x="3931920" y="466344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Shape 14"/>
          <p:cNvSpPr/>
          <p:nvPr/>
        </p:nvSpPr>
        <p:spPr>
          <a:xfrm>
            <a:off x="5212080" y="137160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Shape 15"/>
          <p:cNvSpPr/>
          <p:nvPr/>
        </p:nvSpPr>
        <p:spPr>
          <a:xfrm>
            <a:off x="5212080" y="246888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8" name="Shape 16"/>
          <p:cNvSpPr/>
          <p:nvPr/>
        </p:nvSpPr>
        <p:spPr>
          <a:xfrm>
            <a:off x="5212080" y="356616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Shape 17"/>
          <p:cNvSpPr/>
          <p:nvPr/>
        </p:nvSpPr>
        <p:spPr>
          <a:xfrm>
            <a:off x="5212080" y="466344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Shape 18"/>
          <p:cNvSpPr/>
          <p:nvPr/>
        </p:nvSpPr>
        <p:spPr>
          <a:xfrm>
            <a:off x="6492240" y="137160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Shape 19"/>
          <p:cNvSpPr/>
          <p:nvPr/>
        </p:nvSpPr>
        <p:spPr>
          <a:xfrm>
            <a:off x="6492240" y="246888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2" name="Shape 20"/>
          <p:cNvSpPr/>
          <p:nvPr/>
        </p:nvSpPr>
        <p:spPr>
          <a:xfrm>
            <a:off x="6492240" y="356616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3" name="Shape 21"/>
          <p:cNvSpPr/>
          <p:nvPr/>
        </p:nvSpPr>
        <p:spPr>
          <a:xfrm>
            <a:off x="6492240" y="466344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4" name="Shape 22"/>
          <p:cNvSpPr/>
          <p:nvPr/>
        </p:nvSpPr>
        <p:spPr>
          <a:xfrm>
            <a:off x="7772400" y="137160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5" name="Shape 23"/>
          <p:cNvSpPr/>
          <p:nvPr/>
        </p:nvSpPr>
        <p:spPr>
          <a:xfrm>
            <a:off x="7772400" y="246888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6" name="Shape 24"/>
          <p:cNvSpPr/>
          <p:nvPr/>
        </p:nvSpPr>
        <p:spPr>
          <a:xfrm>
            <a:off x="7772400" y="356616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7" name="Shape 25"/>
          <p:cNvSpPr/>
          <p:nvPr/>
        </p:nvSpPr>
        <p:spPr>
          <a:xfrm>
            <a:off x="7772400" y="466344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8" name="Shape 26"/>
          <p:cNvSpPr/>
          <p:nvPr/>
        </p:nvSpPr>
        <p:spPr>
          <a:xfrm>
            <a:off x="9052560" y="137160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9" name="Shape 27"/>
          <p:cNvSpPr/>
          <p:nvPr/>
        </p:nvSpPr>
        <p:spPr>
          <a:xfrm>
            <a:off x="9052560" y="246888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0" name="Shape 28"/>
          <p:cNvSpPr/>
          <p:nvPr/>
        </p:nvSpPr>
        <p:spPr>
          <a:xfrm>
            <a:off x="9052560" y="356616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1" name="Shape 29"/>
          <p:cNvSpPr/>
          <p:nvPr/>
        </p:nvSpPr>
        <p:spPr>
          <a:xfrm>
            <a:off x="9052560" y="466344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2" name="Shape 30"/>
          <p:cNvSpPr/>
          <p:nvPr/>
        </p:nvSpPr>
        <p:spPr>
          <a:xfrm>
            <a:off x="10332720" y="137160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3" name="Shape 31"/>
          <p:cNvSpPr/>
          <p:nvPr/>
        </p:nvSpPr>
        <p:spPr>
          <a:xfrm>
            <a:off x="10332720" y="246888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4" name="Shape 32"/>
          <p:cNvSpPr/>
          <p:nvPr/>
        </p:nvSpPr>
        <p:spPr>
          <a:xfrm>
            <a:off x="10332720" y="356616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5" name="Shape 33"/>
          <p:cNvSpPr/>
          <p:nvPr/>
        </p:nvSpPr>
        <p:spPr>
          <a:xfrm>
            <a:off x="10332720" y="4663440"/>
            <a:ext cx="36576" cy="36576"/>
          </a:xfrm>
          <a:prstGeom prst="ellips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6" name="Text 34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32004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Precio</a:t>
            </a:r>
            <a:endParaRPr lang="en-US" sz="8400" dirty="0"/>
          </a:p>
        </p:txBody>
      </p:sp>
      <p:sp>
        <p:nvSpPr>
          <p:cNvPr id="38" name="Shape 36"/>
          <p:cNvSpPr/>
          <p:nvPr/>
        </p:nvSpPr>
        <p:spPr>
          <a:xfrm>
            <a:off x="457200" y="4663440"/>
            <a:ext cx="914400" cy="0"/>
          </a:xfrm>
          <a:prstGeom prst="line">
            <a:avLst/>
          </a:prstGeom>
          <a:noFill/>
          <a:ln w="381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precio base es </a:t>
            </a:r>
            <a:r>
              <a:rPr lang="en-US" sz="1600" b="1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$150.000.</a:t>
            </a:r>
            <a:endParaRPr lang="en-US" sz="1600" b="1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arquitectura se construye alrededor para reforzarlo.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Disposición a pagar por sesión individual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10698480" cy="0"/>
          </a:xfrm>
          <a:prstGeom prst="line">
            <a:avLst/>
          </a:prstGeom>
          <a:noFill/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Shape 5"/>
          <p:cNvSpPr/>
          <p:nvPr/>
        </p:nvSpPr>
        <p:spPr>
          <a:xfrm>
            <a:off x="1005840" y="4473702"/>
            <a:ext cx="1463040" cy="464058"/>
          </a:xfrm>
          <a:prstGeom prst="rect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Text 6"/>
          <p:cNvSpPr/>
          <p:nvPr/>
        </p:nvSpPr>
        <p:spPr>
          <a:xfrm>
            <a:off x="731520" y="397078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&lt; $50k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349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rentable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3081528"/>
            <a:ext cx="1463040" cy="1856232"/>
          </a:xfrm>
          <a:prstGeom prst="rect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2" name="Text 10"/>
          <p:cNvSpPr/>
          <p:nvPr/>
        </p:nvSpPr>
        <p:spPr>
          <a:xfrm>
            <a:off x="2468880" y="2578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$50-80k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5349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Mercado popular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0" y="2683764"/>
            <a:ext cx="1463040" cy="2253996"/>
          </a:xfrm>
          <a:prstGeom prst="rect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Text 14"/>
          <p:cNvSpPr/>
          <p:nvPr/>
        </p:nvSpPr>
        <p:spPr>
          <a:xfrm>
            <a:off x="4206240" y="21808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34%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0624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$80-120k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6240" y="5349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Mercado masivo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3479292"/>
            <a:ext cx="1463040" cy="145846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Shape 18"/>
          <p:cNvSpPr/>
          <p:nvPr/>
        </p:nvSpPr>
        <p:spPr>
          <a:xfrm>
            <a:off x="6144768" y="3406140"/>
            <a:ext cx="1609344" cy="1604772"/>
          </a:xfrm>
          <a:prstGeom prst="rect">
            <a:avLst/>
          </a:prstGeom>
          <a:solidFill>
            <a:srgbClr val="7B2FFF">
              <a:alpha val="0"/>
            </a:srgbClr>
          </a:solidFill>
          <a:ln w="19050">
            <a:solidFill>
              <a:srgbClr val="7B2FFF"/>
            </a:solidFill>
            <a:prstDash val="dash"/>
          </a:ln>
        </p:spPr>
        <p:txBody>
          <a:bodyPr/>
          <a:lstStyle/>
          <a:p>
            <a:endParaRPr lang="en-CO"/>
          </a:p>
        </p:txBody>
      </p:sp>
      <p:sp>
        <p:nvSpPr>
          <p:cNvPr id="21" name="Text 19"/>
          <p:cNvSpPr/>
          <p:nvPr/>
        </p:nvSpPr>
        <p:spPr>
          <a:xfrm>
            <a:off x="5943600" y="29763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4360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$120-180k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5349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Segmento objetivo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55280" y="4473702"/>
            <a:ext cx="1463040" cy="46405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5" name="Text 23"/>
          <p:cNvSpPr/>
          <p:nvPr/>
        </p:nvSpPr>
        <p:spPr>
          <a:xfrm>
            <a:off x="7680960" y="397078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8096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$180-250k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80960" y="5349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Pareja / premium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692640" y="4805172"/>
            <a:ext cx="1463040" cy="132588"/>
          </a:xfrm>
          <a:prstGeom prst="rect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9" name="Text 27"/>
          <p:cNvSpPr/>
          <p:nvPr/>
        </p:nvSpPr>
        <p:spPr>
          <a:xfrm>
            <a:off x="9418320" y="43022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2%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1832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&gt; $250k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18320" y="5349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Fuera del mercado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5852160"/>
            <a:ext cx="11277295" cy="50292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3" name="Text 31"/>
          <p:cNvSpPr/>
          <p:nvPr/>
        </p:nvSpPr>
        <p:spPr>
          <a:xfrm>
            <a:off x="731520" y="58521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LECTURA · </a:t>
            </a: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$150.000 el servicio se dirige al 31% del mercado — precisamente el de mayor capacidad adquisitiva y mayor valoración del servicio.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05 · Precio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01200" y="6537960"/>
            <a:ext cx="213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de precios recomendada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194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194560" cy="1097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Primera sesión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orientación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54864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$80.000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4800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Romper barrera de entrada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2286000"/>
            <a:ext cx="2194560" cy="3200400"/>
          </a:xfrm>
          <a:prstGeom prst="rect">
            <a:avLst/>
          </a:prstGeom>
          <a:solidFill>
            <a:srgbClr val="0D0D1A"/>
          </a:solidFill>
          <a:ln w="254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Shape 11"/>
          <p:cNvSpPr/>
          <p:nvPr/>
        </p:nvSpPr>
        <p:spPr>
          <a:xfrm>
            <a:off x="2743200" y="2286000"/>
            <a:ext cx="2194560" cy="10972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Text 12"/>
          <p:cNvSpPr/>
          <p:nvPr/>
        </p:nvSpPr>
        <p:spPr>
          <a:xfrm>
            <a:off x="2926080" y="2606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Sesión individual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(base)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26080" y="3611880"/>
            <a:ext cx="548640" cy="0"/>
          </a:xfrm>
          <a:prstGeom prst="line">
            <a:avLst/>
          </a:prstGeom>
          <a:noFill/>
          <a:ln w="254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Text 14"/>
          <p:cNvSpPr/>
          <p:nvPr/>
        </p:nvSpPr>
        <p:spPr>
          <a:xfrm>
            <a:off x="292608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$150.000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926080" y="4800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Precio profesional de marca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2286000"/>
            <a:ext cx="2194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Shape 17"/>
          <p:cNvSpPr/>
          <p:nvPr/>
        </p:nvSpPr>
        <p:spPr>
          <a:xfrm>
            <a:off x="5029200" y="2286000"/>
            <a:ext cx="2194560" cy="10972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Text 18"/>
          <p:cNvSpPr/>
          <p:nvPr/>
        </p:nvSpPr>
        <p:spPr>
          <a:xfrm>
            <a:off x="5212080" y="2606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Paquete 4 sesiones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 mes)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12080" y="3611880"/>
            <a:ext cx="548640" cy="0"/>
          </a:xfrm>
          <a:prstGeom prst="line">
            <a:avLst/>
          </a:prstGeom>
          <a:noFill/>
          <a:ln w="254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2" name="Text 20"/>
          <p:cNvSpPr/>
          <p:nvPr/>
        </p:nvSpPr>
        <p:spPr>
          <a:xfrm>
            <a:off x="521208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$540.000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1208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ahorro 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4800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Generar recurrencia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0" y="2286000"/>
            <a:ext cx="2194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6" name="Shape 24"/>
          <p:cNvSpPr/>
          <p:nvPr/>
        </p:nvSpPr>
        <p:spPr>
          <a:xfrm>
            <a:off x="7315200" y="2286000"/>
            <a:ext cx="2194560" cy="10972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7" name="Text 25"/>
          <p:cNvSpPr/>
          <p:nvPr/>
        </p:nvSpPr>
        <p:spPr>
          <a:xfrm>
            <a:off x="7498080" y="2606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Paquete 8 sesiones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(2 meses)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98080" y="3611880"/>
            <a:ext cx="548640" cy="0"/>
          </a:xfrm>
          <a:prstGeom prst="line">
            <a:avLst/>
          </a:prstGeom>
          <a:noFill/>
          <a:ln w="254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9" name="Text 27"/>
          <p:cNvSpPr/>
          <p:nvPr/>
        </p:nvSpPr>
        <p:spPr>
          <a:xfrm>
            <a:off x="749808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$1.020.000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9808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ahorro 15%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0" y="4800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Compromiso con el proceso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601200" y="2286000"/>
            <a:ext cx="2194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3" name="Shape 31"/>
          <p:cNvSpPr/>
          <p:nvPr/>
        </p:nvSpPr>
        <p:spPr>
          <a:xfrm>
            <a:off x="9601200" y="2286000"/>
            <a:ext cx="2194560" cy="1097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4" name="Text 32"/>
          <p:cNvSpPr/>
          <p:nvPr/>
        </p:nvSpPr>
        <p:spPr>
          <a:xfrm>
            <a:off x="9784080" y="2606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Sesión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pareja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784080" y="3611880"/>
            <a:ext cx="54864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6" name="Text 34"/>
          <p:cNvSpPr/>
          <p:nvPr/>
        </p:nvSpPr>
        <p:spPr>
          <a:xfrm>
            <a:off x="978408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$220.000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784080" y="4800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Segmento de ticket más alto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669280"/>
            <a:ext cx="11277295" cy="640080"/>
          </a:xfrm>
          <a:prstGeom prst="rect">
            <a:avLst/>
          </a:prstGeom>
          <a:solidFill>
            <a:srgbClr val="7B2FFF">
              <a:alpha val="15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9" name="Text 37"/>
          <p:cNvSpPr/>
          <p:nvPr/>
        </p:nvSpPr>
        <p:spPr>
          <a:xfrm>
            <a:off x="731520" y="5669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INGRESO POR PACIENTE ACTIVO · </a:t>
            </a:r>
            <a:r>
              <a:rPr lang="en-US" sz="12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$150.000 (1 sesión/mes) a $540.000 (paquete 4). Promedio realista: </a:t>
            </a: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$300.000 – $400.000 por paciente activo al mes.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05 · Precio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601200" y="6537960"/>
            <a:ext cx="213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ADQUISICIÓN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Dónde confía el cliente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Recomendación de amigos o familiares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2194560"/>
            <a:ext cx="5029200" cy="256032"/>
          </a:xfrm>
          <a:prstGeom prst="rect">
            <a:avLst/>
          </a:prstGeom>
          <a:solidFill>
            <a:srgbClr val="E1E1EC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Shape 6"/>
          <p:cNvSpPr/>
          <p:nvPr/>
        </p:nvSpPr>
        <p:spPr>
          <a:xfrm>
            <a:off x="3474720" y="2194560"/>
            <a:ext cx="4966335" cy="25603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Text 7"/>
          <p:cNvSpPr/>
          <p:nvPr/>
        </p:nvSpPr>
        <p:spPr>
          <a:xfrm>
            <a:off x="8532495" y="21031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79%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0" y="21031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CANAL NÚCLEO · Boca a boca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61518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Recomendación médica o de la EPS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2706624"/>
            <a:ext cx="5029200" cy="256032"/>
          </a:xfrm>
          <a:prstGeom prst="rect">
            <a:avLst/>
          </a:prstGeom>
          <a:solidFill>
            <a:srgbClr val="E1E1EC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Shape 11"/>
          <p:cNvSpPr/>
          <p:nvPr/>
        </p:nvSpPr>
        <p:spPr>
          <a:xfrm>
            <a:off x="3474720" y="2706624"/>
            <a:ext cx="2640330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Text 12"/>
          <p:cNvSpPr/>
          <p:nvPr/>
        </p:nvSpPr>
        <p:spPr>
          <a:xfrm>
            <a:off x="6206490" y="261518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42%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18320" y="261518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Alianzas con médicos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12724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Contenido en Instagram del profesional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3218688"/>
            <a:ext cx="5029200" cy="256032"/>
          </a:xfrm>
          <a:prstGeom prst="rect">
            <a:avLst/>
          </a:prstGeom>
          <a:solidFill>
            <a:srgbClr val="E1E1EC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8" name="Shape 16"/>
          <p:cNvSpPr/>
          <p:nvPr/>
        </p:nvSpPr>
        <p:spPr>
          <a:xfrm>
            <a:off x="3474720" y="3218688"/>
            <a:ext cx="2577465" cy="25603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Text 17"/>
          <p:cNvSpPr/>
          <p:nvPr/>
        </p:nvSpPr>
        <p:spPr>
          <a:xfrm>
            <a:off x="6143625" y="312724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41%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18320" y="31272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CANAL ORGÁNICO PRINCIPAL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63931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Artículos en medios de comunicación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3730752"/>
            <a:ext cx="5029200" cy="256032"/>
          </a:xfrm>
          <a:prstGeom prst="rect">
            <a:avLst/>
          </a:prstGeom>
          <a:solidFill>
            <a:srgbClr val="E1E1EC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3" name="Shape 21"/>
          <p:cNvSpPr/>
          <p:nvPr/>
        </p:nvSpPr>
        <p:spPr>
          <a:xfrm>
            <a:off x="3474720" y="3730752"/>
            <a:ext cx="2137410" cy="256032"/>
          </a:xfrm>
          <a:prstGeom prst="rect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4" name="Text 22"/>
          <p:cNvSpPr/>
          <p:nvPr/>
        </p:nvSpPr>
        <p:spPr>
          <a:xfrm>
            <a:off x="5703570" y="3639312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34%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18320" y="36393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 de apoyo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15137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Reseñas en Google y plataformas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4242816"/>
            <a:ext cx="5029200" cy="256032"/>
          </a:xfrm>
          <a:prstGeom prst="rect">
            <a:avLst/>
          </a:prstGeom>
          <a:solidFill>
            <a:srgbClr val="E1E1EC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8" name="Shape 26"/>
          <p:cNvSpPr/>
          <p:nvPr/>
        </p:nvSpPr>
        <p:spPr>
          <a:xfrm>
            <a:off x="3474720" y="4242816"/>
            <a:ext cx="2074545" cy="256032"/>
          </a:xfrm>
          <a:prstGeom prst="rect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9" name="Text 27"/>
          <p:cNvSpPr/>
          <p:nvPr/>
        </p:nvSpPr>
        <p:spPr>
          <a:xfrm>
            <a:off x="5640705" y="415137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33%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418320" y="415137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Ficha Google obligatoria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6634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Contenido en TikTok del profesional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0" y="4754880"/>
            <a:ext cx="5029200" cy="256032"/>
          </a:xfrm>
          <a:prstGeom prst="rect">
            <a:avLst/>
          </a:prstGeom>
          <a:solidFill>
            <a:srgbClr val="E1E1EC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3" name="Shape 31"/>
          <p:cNvSpPr/>
          <p:nvPr/>
        </p:nvSpPr>
        <p:spPr>
          <a:xfrm>
            <a:off x="3474720" y="4754880"/>
            <a:ext cx="1948815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4" name="Text 32"/>
          <p:cNvSpPr/>
          <p:nvPr/>
        </p:nvSpPr>
        <p:spPr>
          <a:xfrm>
            <a:off x="5514975" y="466344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31%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418320" y="46634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Canal complementario de alcance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517550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Podcast o YouTube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4720" y="5266944"/>
            <a:ext cx="5029200" cy="256032"/>
          </a:xfrm>
          <a:prstGeom prst="rect">
            <a:avLst/>
          </a:prstGeom>
          <a:solidFill>
            <a:srgbClr val="E1E1EC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8" name="Shape 36"/>
          <p:cNvSpPr/>
          <p:nvPr/>
        </p:nvSpPr>
        <p:spPr>
          <a:xfrm>
            <a:off x="3474720" y="5266944"/>
            <a:ext cx="1383030" cy="256032"/>
          </a:xfrm>
          <a:prstGeom prst="rect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9" name="Text 37"/>
          <p:cNvSpPr/>
          <p:nvPr/>
        </p:nvSpPr>
        <p:spPr>
          <a:xfrm>
            <a:off x="4949190" y="517550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418320" y="517550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Solo si hay capacidad de producción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568756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Publicidad digital pagada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74720" y="5779008"/>
            <a:ext cx="5029200" cy="256032"/>
          </a:xfrm>
          <a:prstGeom prst="rect">
            <a:avLst/>
          </a:prstGeom>
          <a:solidFill>
            <a:srgbClr val="E1E1EC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3" name="Shape 41"/>
          <p:cNvSpPr/>
          <p:nvPr/>
        </p:nvSpPr>
        <p:spPr>
          <a:xfrm>
            <a:off x="3474720" y="5779008"/>
            <a:ext cx="1131570" cy="256032"/>
          </a:xfrm>
          <a:prstGeom prst="rect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4" name="Text 42"/>
          <p:cNvSpPr/>
          <p:nvPr/>
        </p:nvSpPr>
        <p:spPr>
          <a:xfrm>
            <a:off x="4697730" y="568756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18%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418320" y="56875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Solo retargeting, no en frío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7" name="Text 4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06 · Adquisición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601200" y="6537960"/>
            <a:ext cx="213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" name="Shape 3"/>
          <p:cNvSpPr/>
          <p:nvPr/>
        </p:nvSpPr>
        <p:spPr>
          <a:xfrm>
            <a:off x="1371600" y="246888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" name="Shape 4"/>
          <p:cNvSpPr/>
          <p:nvPr/>
        </p:nvSpPr>
        <p:spPr>
          <a:xfrm>
            <a:off x="1371600" y="35661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Shape 5"/>
          <p:cNvSpPr/>
          <p:nvPr/>
        </p:nvSpPr>
        <p:spPr>
          <a:xfrm>
            <a:off x="1371600" y="466344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Shape 7"/>
          <p:cNvSpPr/>
          <p:nvPr/>
        </p:nvSpPr>
        <p:spPr>
          <a:xfrm>
            <a:off x="2651760" y="246888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Shape 8"/>
          <p:cNvSpPr/>
          <p:nvPr/>
        </p:nvSpPr>
        <p:spPr>
          <a:xfrm>
            <a:off x="2651760" y="35661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Shape 9"/>
          <p:cNvSpPr/>
          <p:nvPr/>
        </p:nvSpPr>
        <p:spPr>
          <a:xfrm>
            <a:off x="2651760" y="466344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2" name="Shape 10"/>
          <p:cNvSpPr/>
          <p:nvPr/>
        </p:nvSpPr>
        <p:spPr>
          <a:xfrm>
            <a:off x="3931920" y="137160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Shape 11"/>
          <p:cNvSpPr/>
          <p:nvPr/>
        </p:nvSpPr>
        <p:spPr>
          <a:xfrm>
            <a:off x="3931920" y="246888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Shape 12"/>
          <p:cNvSpPr/>
          <p:nvPr/>
        </p:nvSpPr>
        <p:spPr>
          <a:xfrm>
            <a:off x="3931920" y="35661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Shape 13"/>
          <p:cNvSpPr/>
          <p:nvPr/>
        </p:nvSpPr>
        <p:spPr>
          <a:xfrm>
            <a:off x="3931920" y="466344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Shape 14"/>
          <p:cNvSpPr/>
          <p:nvPr/>
        </p:nvSpPr>
        <p:spPr>
          <a:xfrm>
            <a:off x="5212080" y="137160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Shape 15"/>
          <p:cNvSpPr/>
          <p:nvPr/>
        </p:nvSpPr>
        <p:spPr>
          <a:xfrm>
            <a:off x="5212080" y="246888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8" name="Shape 16"/>
          <p:cNvSpPr/>
          <p:nvPr/>
        </p:nvSpPr>
        <p:spPr>
          <a:xfrm>
            <a:off x="5212080" y="35661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Shape 17"/>
          <p:cNvSpPr/>
          <p:nvPr/>
        </p:nvSpPr>
        <p:spPr>
          <a:xfrm>
            <a:off x="5212080" y="466344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Shape 18"/>
          <p:cNvSpPr/>
          <p:nvPr/>
        </p:nvSpPr>
        <p:spPr>
          <a:xfrm>
            <a:off x="6492240" y="137160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Shape 19"/>
          <p:cNvSpPr/>
          <p:nvPr/>
        </p:nvSpPr>
        <p:spPr>
          <a:xfrm>
            <a:off x="6492240" y="246888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2" name="Shape 20"/>
          <p:cNvSpPr/>
          <p:nvPr/>
        </p:nvSpPr>
        <p:spPr>
          <a:xfrm>
            <a:off x="6492240" y="35661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3" name="Shape 21"/>
          <p:cNvSpPr/>
          <p:nvPr/>
        </p:nvSpPr>
        <p:spPr>
          <a:xfrm>
            <a:off x="6492240" y="466344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4" name="Shape 22"/>
          <p:cNvSpPr/>
          <p:nvPr/>
        </p:nvSpPr>
        <p:spPr>
          <a:xfrm>
            <a:off x="7772400" y="137160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5" name="Shape 23"/>
          <p:cNvSpPr/>
          <p:nvPr/>
        </p:nvSpPr>
        <p:spPr>
          <a:xfrm>
            <a:off x="7772400" y="246888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6" name="Shape 24"/>
          <p:cNvSpPr/>
          <p:nvPr/>
        </p:nvSpPr>
        <p:spPr>
          <a:xfrm>
            <a:off x="7772400" y="35661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7" name="Shape 25"/>
          <p:cNvSpPr/>
          <p:nvPr/>
        </p:nvSpPr>
        <p:spPr>
          <a:xfrm>
            <a:off x="7772400" y="466344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8" name="Shape 26"/>
          <p:cNvSpPr/>
          <p:nvPr/>
        </p:nvSpPr>
        <p:spPr>
          <a:xfrm>
            <a:off x="9052560" y="137160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9" name="Shape 27"/>
          <p:cNvSpPr/>
          <p:nvPr/>
        </p:nvSpPr>
        <p:spPr>
          <a:xfrm>
            <a:off x="9052560" y="246888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0" name="Shape 28"/>
          <p:cNvSpPr/>
          <p:nvPr/>
        </p:nvSpPr>
        <p:spPr>
          <a:xfrm>
            <a:off x="9052560" y="35661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1" name="Shape 29"/>
          <p:cNvSpPr/>
          <p:nvPr/>
        </p:nvSpPr>
        <p:spPr>
          <a:xfrm>
            <a:off x="9052560" y="466344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2" name="Shape 30"/>
          <p:cNvSpPr/>
          <p:nvPr/>
        </p:nvSpPr>
        <p:spPr>
          <a:xfrm>
            <a:off x="10332720" y="137160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3" name="Shape 31"/>
          <p:cNvSpPr/>
          <p:nvPr/>
        </p:nvSpPr>
        <p:spPr>
          <a:xfrm>
            <a:off x="10332720" y="246888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4" name="Shape 32"/>
          <p:cNvSpPr/>
          <p:nvPr/>
        </p:nvSpPr>
        <p:spPr>
          <a:xfrm>
            <a:off x="10332720" y="35661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5" name="Shape 33"/>
          <p:cNvSpPr/>
          <p:nvPr/>
        </p:nvSpPr>
        <p:spPr>
          <a:xfrm>
            <a:off x="10332720" y="466344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6" name="Text 34"/>
          <p:cNvSpPr/>
          <p:nvPr/>
        </p:nvSpPr>
        <p:spPr>
          <a:xfrm>
            <a:off x="45720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Sistema de contenido</a:t>
            </a:r>
            <a:endParaRPr lang="en-US" sz="6800" dirty="0"/>
          </a:p>
        </p:txBody>
      </p:sp>
      <p:sp>
        <p:nvSpPr>
          <p:cNvPr id="38" name="Shape 36"/>
          <p:cNvSpPr/>
          <p:nvPr/>
        </p:nvSpPr>
        <p:spPr>
          <a:xfrm>
            <a:off x="457200" y="4526280"/>
            <a:ext cx="914400" cy="0"/>
          </a:xfrm>
          <a:prstGeom prst="line">
            <a:avLst/>
          </a:prstGeom>
          <a:noFill/>
          <a:ln w="381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9" name="Text 37"/>
          <p:cNvSpPr/>
          <p:nvPr/>
        </p:nvSpPr>
        <p:spPr>
          <a:xfrm>
            <a:off x="457200" y="47091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 ideas específicas se definen con la profesional.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Este sistema decide qué red, qué lenguaje y qué objetivo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cualquier contenido futuro.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SISTEMA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Dos redes, dos funciones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Instagram concentra la confianza (41%). TikTok aporta alcance (31%). No son intercambiables.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577840" cy="397764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577840" cy="1371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INSTAGRAM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Canal principal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Construir confianza y convertir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703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PUBLICAR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9776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Reels con la profesional en cámara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Carruseles educativos (se guardan)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Stories diarios con cercanía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Testimonios (con consentimiento)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5212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TONO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54864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Cercano pero profesional. Honesto sobre las limitaciones. Primera persona. Sin tecnicismos innecesarios.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55778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Shape 15"/>
          <p:cNvSpPr/>
          <p:nvPr/>
        </p:nvSpPr>
        <p:spPr>
          <a:xfrm>
            <a:off x="6217920" y="2286000"/>
            <a:ext cx="5577840" cy="1371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8" name="Text 16"/>
          <p:cNvSpPr/>
          <p:nvPr/>
        </p:nvSpPr>
        <p:spPr>
          <a:xfrm>
            <a:off x="653796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Canal de alcance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3796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Captar atención de no-seguidores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3703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PUBLICAR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37960" y="39776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Videos cortos, un mensaje por pieza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Contenido de identificación rápida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Respuestas a preguntas de audiencia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Adaptaciones de los reels de Instagram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5212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TONO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37960" y="54864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Más directo, más conversacional. Hook en los primeros 3 segundos. Menos tecnicismos, más identificación.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07 · Sistema de contenido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01200" y="6537960"/>
            <a:ext cx="213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SISTEMA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Regla de decisión: qué va en qué red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41148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TIPO DE CONTENIDO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235440" y="2057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127729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Educativo profundo (explicación larga)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578608"/>
            <a:ext cx="164592" cy="164592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Text 11"/>
          <p:cNvSpPr/>
          <p:nvPr/>
        </p:nvSpPr>
        <p:spPr>
          <a:xfrm>
            <a:off x="6492240" y="2468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Sí, canal principal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326880" y="2578608"/>
            <a:ext cx="164592" cy="164592"/>
          </a:xfrm>
          <a:prstGeom prst="ellipse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Text 13"/>
          <p:cNvSpPr/>
          <p:nvPr/>
        </p:nvSpPr>
        <p:spPr>
          <a:xfrm>
            <a:off x="9601200" y="2468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funciona bien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98648"/>
            <a:ext cx="11277295" cy="475488"/>
          </a:xfrm>
          <a:prstGeom prst="rect">
            <a:avLst/>
          </a:prstGeom>
          <a:solidFill>
            <a:srgbClr val="F0F0F6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Text 15"/>
          <p:cNvSpPr/>
          <p:nvPr/>
        </p:nvSpPr>
        <p:spPr>
          <a:xfrm>
            <a:off x="640080" y="294436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Identificación emocional (“esto soy yo”)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054096"/>
            <a:ext cx="164592" cy="164592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Text 17"/>
          <p:cNvSpPr/>
          <p:nvPr/>
        </p:nvSpPr>
        <p:spPr>
          <a:xfrm>
            <a:off x="6492240" y="29443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Sí, como reel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326880" y="3054096"/>
            <a:ext cx="164592" cy="16459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Text 19"/>
          <p:cNvSpPr/>
          <p:nvPr/>
        </p:nvSpPr>
        <p:spPr>
          <a:xfrm>
            <a:off x="9601200" y="2944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Sí, canal ideal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74136"/>
            <a:ext cx="1127729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3" name="Text 21"/>
          <p:cNvSpPr/>
          <p:nvPr/>
        </p:nvSpPr>
        <p:spPr>
          <a:xfrm>
            <a:off x="640080" y="34198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Herramientas prácticas paso a paso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529584"/>
            <a:ext cx="164592" cy="164592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5" name="Text 23"/>
          <p:cNvSpPr/>
          <p:nvPr/>
        </p:nvSpPr>
        <p:spPr>
          <a:xfrm>
            <a:off x="6492240" y="34198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Sí, como carrusel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326880" y="3529584"/>
            <a:ext cx="164592" cy="164592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7" name="Text 25"/>
          <p:cNvSpPr/>
          <p:nvPr/>
        </p:nvSpPr>
        <p:spPr>
          <a:xfrm>
            <a:off x="9601200" y="34198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Versión corta sí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49624"/>
            <a:ext cx="11277295" cy="475488"/>
          </a:xfrm>
          <a:prstGeom prst="rect">
            <a:avLst/>
          </a:prstGeom>
          <a:solidFill>
            <a:srgbClr val="F0F0F6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9" name="Text 27"/>
          <p:cNvSpPr/>
          <p:nvPr/>
        </p:nvSpPr>
        <p:spPr>
          <a:xfrm>
            <a:off x="640080" y="38953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Contenido de autoridad (opiniones)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4005072"/>
            <a:ext cx="164592" cy="164592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1" name="Text 29"/>
          <p:cNvSpPr/>
          <p:nvPr/>
        </p:nvSpPr>
        <p:spPr>
          <a:xfrm>
            <a:off x="6492240" y="38953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Sí, canal principal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326880" y="4005072"/>
            <a:ext cx="164592" cy="164592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3" name="Text 31"/>
          <p:cNvSpPr/>
          <p:nvPr/>
        </p:nvSpPr>
        <p:spPr>
          <a:xfrm>
            <a:off x="9601200" y="38953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Solo si es cortito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325112"/>
            <a:ext cx="1127729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5" name="Text 33"/>
          <p:cNvSpPr/>
          <p:nvPr/>
        </p:nvSpPr>
        <p:spPr>
          <a:xfrm>
            <a:off x="640080" y="437083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Testimonios de pacientes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4480560"/>
            <a:ext cx="164592" cy="164592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7" name="Text 35"/>
          <p:cNvSpPr/>
          <p:nvPr/>
        </p:nvSpPr>
        <p:spPr>
          <a:xfrm>
            <a:off x="6492240" y="43708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Sí, canal principal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326880" y="4480560"/>
            <a:ext cx="164592" cy="164592"/>
          </a:xfrm>
          <a:prstGeom prst="ellipse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9" name="Text 37"/>
          <p:cNvSpPr/>
          <p:nvPr/>
        </p:nvSpPr>
        <p:spPr>
          <a:xfrm>
            <a:off x="9601200" y="43708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No, poco adecuado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800600"/>
            <a:ext cx="11277295" cy="475488"/>
          </a:xfrm>
          <a:prstGeom prst="rect">
            <a:avLst/>
          </a:prstGeom>
          <a:solidFill>
            <a:srgbClr val="F0F0F6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1" name="Text 39"/>
          <p:cNvSpPr/>
          <p:nvPr/>
        </p:nvSpPr>
        <p:spPr>
          <a:xfrm>
            <a:off x="640080" y="48463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Explicación del servicio y precios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4956048"/>
            <a:ext cx="164592" cy="164592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3" name="Text 41"/>
          <p:cNvSpPr/>
          <p:nvPr/>
        </p:nvSpPr>
        <p:spPr>
          <a:xfrm>
            <a:off x="6492240" y="4846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Sí, canal principal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326880" y="4956048"/>
            <a:ext cx="164592" cy="164592"/>
          </a:xfrm>
          <a:prstGeom prst="ellipse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5" name="Text 43"/>
          <p:cNvSpPr/>
          <p:nvPr/>
        </p:nvSpPr>
        <p:spPr>
          <a:xfrm>
            <a:off x="9601200" y="4846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5276088"/>
            <a:ext cx="1127729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7" name="Text 45"/>
          <p:cNvSpPr/>
          <p:nvPr/>
        </p:nvSpPr>
        <p:spPr>
          <a:xfrm>
            <a:off x="640080" y="53218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Cercanía y detrás de cámaras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17920" y="5431536"/>
            <a:ext cx="164592" cy="164592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9" name="Text 47"/>
          <p:cNvSpPr/>
          <p:nvPr/>
        </p:nvSpPr>
        <p:spPr>
          <a:xfrm>
            <a:off x="6492240" y="53218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Sí, en stories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326880" y="5431536"/>
            <a:ext cx="164592" cy="16459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1" name="Text 49"/>
          <p:cNvSpPr/>
          <p:nvPr/>
        </p:nvSpPr>
        <p:spPr>
          <a:xfrm>
            <a:off x="9601200" y="53218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Sí, videos cortos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5751576"/>
            <a:ext cx="11277295" cy="475488"/>
          </a:xfrm>
          <a:prstGeom prst="rect">
            <a:avLst/>
          </a:prstGeom>
          <a:solidFill>
            <a:srgbClr val="F0F0F6"/>
          </a:solidFill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3" name="Text 51"/>
          <p:cNvSpPr/>
          <p:nvPr/>
        </p:nvSpPr>
        <p:spPr>
          <a:xfrm>
            <a:off x="640080" y="579729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Respuesta a preguntas de audiencia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17920" y="5907024"/>
            <a:ext cx="164592" cy="164592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5" name="Text 53"/>
          <p:cNvSpPr/>
          <p:nvPr/>
        </p:nvSpPr>
        <p:spPr>
          <a:xfrm>
            <a:off x="6492240" y="57972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Sí, en stories y reels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326880" y="5907024"/>
            <a:ext cx="164592" cy="16459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7" name="Text 55"/>
          <p:cNvSpPr/>
          <p:nvPr/>
        </p:nvSpPr>
        <p:spPr>
          <a:xfrm>
            <a:off x="9601200" y="57972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Sí, función nativa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6309360"/>
            <a:ext cx="128016" cy="128016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9" name="Text 57"/>
          <p:cNvSpPr/>
          <p:nvPr/>
        </p:nvSpPr>
        <p:spPr>
          <a:xfrm>
            <a:off x="685800" y="6263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Canal principal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383280" y="6309360"/>
            <a:ext cx="128016" cy="12801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1" name="Text 59"/>
          <p:cNvSpPr/>
          <p:nvPr/>
        </p:nvSpPr>
        <p:spPr>
          <a:xfrm>
            <a:off x="3611880" y="6263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Funciona bien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309360" y="6309360"/>
            <a:ext cx="128016" cy="128016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3" name="Text 61"/>
          <p:cNvSpPr/>
          <p:nvPr/>
        </p:nvSpPr>
        <p:spPr>
          <a:xfrm>
            <a:off x="6537960" y="6263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adaptación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9235440" y="6309360"/>
            <a:ext cx="128016" cy="128016"/>
          </a:xfrm>
          <a:prstGeom prst="ellipse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5" name="Text 63"/>
          <p:cNvSpPr/>
          <p:nvPr/>
        </p:nvSpPr>
        <p:spPr>
          <a:xfrm>
            <a:off x="9464040" y="6263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recomendado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B2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implementar desde el inicio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657600" cy="10972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542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$150.000 por sesión individual (ancla)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$80.000 primera sesión de orientación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$540.000 paquete 4 sesiones (10% dto)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$1.020.000 paquete 8 sesiones (15% dto)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$220.000 sesión de pareja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10312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Shape 11"/>
          <p:cNvSpPr/>
          <p:nvPr/>
        </p:nvSpPr>
        <p:spPr>
          <a:xfrm>
            <a:off x="4343400" y="2103120"/>
            <a:ext cx="3657600" cy="1097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Shape 12"/>
          <p:cNvSpPr/>
          <p:nvPr/>
        </p:nvSpPr>
        <p:spPr>
          <a:xfrm>
            <a:off x="4617720" y="2468880"/>
            <a:ext cx="502920" cy="5029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Text 13"/>
          <p:cNvSpPr/>
          <p:nvPr/>
        </p:nvSpPr>
        <p:spPr>
          <a:xfrm>
            <a:off x="46177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◆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2542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SERVICIO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17720" y="320040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Videollamada con cámara activa (ambos)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Herramienta práctica escrita al cierre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Mensaje de seguimiento a mitad de semana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Instrumento de progreso cada 2-3 semanas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Horarios nocturnos y fin de semana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210312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Shape 17"/>
          <p:cNvSpPr/>
          <p:nvPr/>
        </p:nvSpPr>
        <p:spPr>
          <a:xfrm>
            <a:off x="8229600" y="2103120"/>
            <a:ext cx="3657600" cy="10972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Shape 18"/>
          <p:cNvSpPr/>
          <p:nvPr/>
        </p:nvSpPr>
        <p:spPr>
          <a:xfrm>
            <a:off x="8503920" y="2468880"/>
            <a:ext cx="502920" cy="50292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Text 19"/>
          <p:cNvSpPr/>
          <p:nvPr/>
        </p:nvSpPr>
        <p:spPr>
          <a:xfrm>
            <a:off x="85039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0" y="2542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0D0D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ADQUISICIÓN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03920" y="320040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Instagram activo antes del primer paciente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Programa de referidos con incentivo (15%)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Alianzas con 3-5 médicos en 3 meses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Ficha de Google Business desde día 1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 publicidad pagada en los primeros meses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1E1E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Parte 08 · Decisiones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0" y="6537960"/>
            <a:ext cx="213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Hay mercado. Hay ganas.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Hay brecha de calidad.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 tres condiciones para lanzar están alineadas — y esa alineación no ocurre con frecuencia.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riesgo no está en entrar; está en entrar sin diferenciación.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5486400" cy="914400"/>
          </a:xfrm>
          <a:prstGeom prst="rect">
            <a:avLst/>
          </a:prstGeom>
          <a:solidFill>
            <a:srgbClr val="171730"/>
          </a:solidFill>
          <a:ln w="12700">
            <a:solidFill>
              <a:srgbClr val="2D2D4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Shape 6"/>
          <p:cNvSpPr/>
          <p:nvPr/>
        </p:nvSpPr>
        <p:spPr>
          <a:xfrm>
            <a:off x="457200" y="4297680"/>
            <a:ext cx="73152" cy="91440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Text 7"/>
          <p:cNvSpPr/>
          <p:nvPr/>
        </p:nvSpPr>
        <p:spPr>
          <a:xfrm>
            <a:off x="685800" y="4389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¿Cómo atraer clientes?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7091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Instagram con rostro de la profesional + referidos desde el día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4297680"/>
            <a:ext cx="5486400" cy="914400"/>
          </a:xfrm>
          <a:prstGeom prst="rect">
            <a:avLst/>
          </a:prstGeom>
          <a:solidFill>
            <a:srgbClr val="171730"/>
          </a:solidFill>
          <a:ln w="12700">
            <a:solidFill>
              <a:srgbClr val="2D2D4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2" name="Shape 10"/>
          <p:cNvSpPr/>
          <p:nvPr/>
        </p:nvSpPr>
        <p:spPr>
          <a:xfrm>
            <a:off x="6172200" y="4297680"/>
            <a:ext cx="73152" cy="91440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Text 11"/>
          <p:cNvSpPr/>
          <p:nvPr/>
        </p:nvSpPr>
        <p:spPr>
          <a:xfrm>
            <a:off x="6400800" y="4389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¿Cómo generar confianza?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47091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Presencia digital continua + credenciales + primera sesión accesible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5349240"/>
            <a:ext cx="5486400" cy="914400"/>
          </a:xfrm>
          <a:prstGeom prst="rect">
            <a:avLst/>
          </a:prstGeom>
          <a:solidFill>
            <a:srgbClr val="171730"/>
          </a:solidFill>
          <a:ln w="12700">
            <a:solidFill>
              <a:srgbClr val="2D2D4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Shape 14"/>
          <p:cNvSpPr/>
          <p:nvPr/>
        </p:nvSpPr>
        <p:spPr>
          <a:xfrm>
            <a:off x="457200" y="5349240"/>
            <a:ext cx="73152" cy="91440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Text 15"/>
          <p:cNvSpPr/>
          <p:nvPr/>
        </p:nvSpPr>
        <p:spPr>
          <a:xfrm>
            <a:off x="685800" y="5440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¿Cómo convertir?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7607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Contenido dirigido al momento “ya no puedo sola” + paquetes mensuales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5349240"/>
            <a:ext cx="5486400" cy="914400"/>
          </a:xfrm>
          <a:prstGeom prst="rect">
            <a:avLst/>
          </a:prstGeom>
          <a:solidFill>
            <a:srgbClr val="171730"/>
          </a:solidFill>
          <a:ln w="12700">
            <a:solidFill>
              <a:srgbClr val="2D2D4A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Shape 18"/>
          <p:cNvSpPr/>
          <p:nvPr/>
        </p:nvSpPr>
        <p:spPr>
          <a:xfrm>
            <a:off x="6172200" y="5349240"/>
            <a:ext cx="73152" cy="91440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Text 19"/>
          <p:cNvSpPr/>
          <p:nvPr/>
        </p:nvSpPr>
        <p:spPr>
          <a:xfrm>
            <a:off x="6400800" y="5440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¿Cómo diferenciarse?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57607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Escuchar de verdad, entregar herramientas y acompañar entre sesiones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0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ZENTRA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0" y="3520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6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GROWTH AGENCY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0" y="4114800"/>
            <a:ext cx="2103120" cy="0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" name="Text 4"/>
          <p:cNvSpPr/>
          <p:nvPr/>
        </p:nvSpPr>
        <p:spPr>
          <a:xfrm>
            <a:off x="1828800" y="42976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E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systems. Drive growth.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493776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Estudio preparado para el equipo profesional.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4016C1-4490-8BF1-EA7F-34DB7B76CC3D}"/>
              </a:ext>
            </a:extLst>
          </p:cNvPr>
          <p:cNvSpPr txBox="1"/>
          <p:nvPr/>
        </p:nvSpPr>
        <p:spPr>
          <a:xfrm>
            <a:off x="3049793" y="324702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8888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CO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2346</Words>
  <Application>Microsoft Macintosh PowerPoint</Application>
  <PresentationFormat>Widescreen</PresentationFormat>
  <Paragraphs>473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Psicoterapia Virtual — Estudio de Mercado</dc:title>
  <dc:subject>PptxGenJS Presentation</dc:subject>
  <dc:creator>Zentra Growth Agency</dc:creator>
  <cp:lastModifiedBy>alex  jacob paternina  silva</cp:lastModifiedBy>
  <cp:revision>2</cp:revision>
  <dcterms:created xsi:type="dcterms:W3CDTF">2026-04-23T19:03:43Z</dcterms:created>
  <dcterms:modified xsi:type="dcterms:W3CDTF">2026-04-29T03:44:06Z</dcterms:modified>
</cp:coreProperties>
</file>